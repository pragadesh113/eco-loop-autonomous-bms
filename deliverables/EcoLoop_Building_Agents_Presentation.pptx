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c5d6af1f814cb1" /><Relationship Type="http://schemas.openxmlformats.org/officeDocument/2006/relationships/extended-properties" Target="/docProps/app.xml" Id="Rc9b1515e668a4a73" /><Relationship Type="http://schemas.openxmlformats.org/officeDocument/2006/relationships/officeDocument" Target="/ppt/presentation.xml" Id="R602e588e8e584c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a4cbab4dae4556"/>
  </p:sldMasterIdLst>
  <p:notesMasterIdLst>
    <p:notesMasterId xmlns:r="http://schemas.openxmlformats.org/officeDocument/2006/relationships" r:id="Ra14a36d8c3a14713"/>
  </p:notesMasterIdLst>
  <p:sldIdLst>
    <p:sldId xmlns:r="http://schemas.openxmlformats.org/officeDocument/2006/relationships" id="256" r:id="R12f78b9a2769470a"/>
    <p:sldId xmlns:r="http://schemas.openxmlformats.org/officeDocument/2006/relationships" id="257" r:id="R5f2787451e434b93"/>
    <p:sldId xmlns:r="http://schemas.openxmlformats.org/officeDocument/2006/relationships" id="258" r:id="Rc419d35a30a54bc4"/>
    <p:sldId xmlns:r="http://schemas.openxmlformats.org/officeDocument/2006/relationships" id="259" r:id="R93e85456e1ee4684"/>
    <p:sldId xmlns:r="http://schemas.openxmlformats.org/officeDocument/2006/relationships" id="260" r:id="R09944f1b4cff47b3"/>
    <p:sldId xmlns:r="http://schemas.openxmlformats.org/officeDocument/2006/relationships" id="261" r:id="R460cec07c0ac41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44c3ad442746df" /><Relationship Type="http://schemas.openxmlformats.org/officeDocument/2006/relationships/slideMaster" Target="/ppt/slideMasters/slideMaster1.xml" Id="R68a4cbab4dae4556" /><Relationship Type="http://schemas.openxmlformats.org/officeDocument/2006/relationships/notesMaster" Target="/ppt/notesMasters/notesMaster1.xml" Id="Ra14a36d8c3a14713" /><Relationship Type="http://schemas.openxmlformats.org/officeDocument/2006/relationships/presProps" Target="/ppt/presProps.xml" Id="Rd42cbf68941648a0" /><Relationship Type="http://schemas.openxmlformats.org/officeDocument/2006/relationships/viewProps" Target="/ppt/viewProps.xml" Id="R249d4274f79640db" /><Relationship Type="http://schemas.openxmlformats.org/officeDocument/2006/relationships/tableStyles" Target="/ppt/tableStyles.xml" Id="Rd174f2c16b6b445a" /><Relationship Type="http://schemas.openxmlformats.org/officeDocument/2006/relationships/slide" Target="/ppt/slides/slide1.xml" Id="R12f78b9a2769470a" /><Relationship Type="http://schemas.openxmlformats.org/officeDocument/2006/relationships/slide" Target="/ppt/slides/slide2.xml" Id="R5f2787451e434b93" /><Relationship Type="http://schemas.openxmlformats.org/officeDocument/2006/relationships/slide" Target="/ppt/slides/slide3.xml" Id="Rc419d35a30a54bc4" /><Relationship Type="http://schemas.openxmlformats.org/officeDocument/2006/relationships/slide" Target="/ppt/slides/slide4.xml" Id="R93e85456e1ee4684" /><Relationship Type="http://schemas.openxmlformats.org/officeDocument/2006/relationships/slide" Target="/ppt/slides/slide5.xml" Id="R09944f1b4cff47b3" /><Relationship Type="http://schemas.openxmlformats.org/officeDocument/2006/relationships/slide" Target="/ppt/slides/slide6.xml" Id="R460cec07c0ac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4eeef66964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98e68769394c3e" /><Relationship Type="http://schemas.openxmlformats.org/officeDocument/2006/relationships/notesMaster" Target="/ppt/notesMasters/notesMaster1.xml" Id="R64e3ebebe9724d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3455ae3f914e16" /><Relationship Type="http://schemas.openxmlformats.org/officeDocument/2006/relationships/notesMaster" Target="/ppt/notesMasters/notesMaster1.xml" Id="Rf49cd5969b6840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fb1c546a024c34" /><Relationship Type="http://schemas.openxmlformats.org/officeDocument/2006/relationships/notesMaster" Target="/ppt/notesMasters/notesMaster1.xml" Id="Rdadd559c23f04b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1980c121a4f5d" /><Relationship Type="http://schemas.openxmlformats.org/officeDocument/2006/relationships/notesMaster" Target="/ppt/notesMasters/notesMaster1.xml" Id="Rf923ebcbbdb445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c6a385fc61445e" /><Relationship Type="http://schemas.openxmlformats.org/officeDocument/2006/relationships/notesMaster" Target="/ppt/notesMasters/notesMaster1.xml" Id="Ra0f19677448e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18fd52efc44c34" /><Relationship Type="http://schemas.openxmlformats.org/officeDocument/2006/relationships/notesMaster" Target="/ppt/notesMasters/notesMaster1.xml" Id="R6e29f22e25bb46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problem: rigid BMS schedules waste energy and cannot adapt to weather, occupancy, or comfort. Eco-Loop closes that loop inside EnergyPlus.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V:\BMS_automation\questions\Screenshot 2026-07-25 191031.png</a:t>
            </a:r>
          </a:p>
          <a:p xmlns:a="http://schemas.openxmlformats.org/drawingml/2006/main">
            <a:r>
              <a:t>- V:\BMS_simulation\pyproject.toml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State the exact accepted outcome. The quantitative run uses the deterministic optimizer through the same autonomous LangGraph, safety, FastMCP and EnergyPlus path; Qwen remains advisory and safely fallible.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V:\BMS_simulation\artifacts\accepted-run\comparison.csv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V:\BMS_simulation\artifacts\accepted-run\summary.json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V:\BMS_simulation\artifacts\demo\01-overview.png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Explain the trust boundary: agents propose; deterministic validation and FastMCP independently reauthorize the exact setpoint before EnergyPlus can be changed. Provider timeout or malformed output abstains into a bounded fallback.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V:\BMS_simulation\docs\architecture.md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V:\BMS_simulation\docs\techspec.md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V:\BMS_simulation\artifacts\demo\05-agents-decisions.png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Emphasize that feasibility is demonstrated rather than estimated: 40.3306 kWh baseline versus 33.8408 kWh controlled, 90.64% comfort compliance, five emergency violations in both cases, and zero severe EnergyPlus errors.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V:\BMS_simulation\artifacts\accepted-run\comparison.csv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V:\BMS_simulation\artifacts\accepted-run\summary.json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V:\BMS_simulation\artifacts\demo\04-energy.png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V:\BMS_simulation\docs\environment-report.md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Differentiate the evidence: the Results view and immutable run artifacts prove the real EnergyPlus result. The Live Scenario Lab is deliberately isolated and is only an interactive reduced-order demonstration.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V:\BMS_simulation\artifacts\demo\09-real-energyplus-live-demo.png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V:\BMS_simulation\artifacts\demo\02-comfort.png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V:\BMS_simulation\artifacts\demo\06-live-scenario-lab.png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Close on defensible novelty: inspectable multi-agent autonomy, comfort-constrained optimization, and double authorization at the actuator boundary. Do not claim that Qwen produced the accepted 16.09% result.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V:\BMS_simulation\docs\techspec.md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V:\BMS_simulation\docs\architecture.md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V:\BMS_simulation\artifacts\accepted-run\summary.json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V:\BMS_simulation\docs\current-status.md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6209ff3df48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1f0d7978047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8a8b5bf6443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ee7e0314240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08b32ba8d4f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f448abf3e4dc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a8c9957814b3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38710298549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61f36c2be4bd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2bdaa5ef0453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84cdd73a0493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F37B63-6586-44E8-8225-FF9B1E06374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C6E765B-1DD6-47BA-B1F3-1453994BBE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F60D9-05D2-4330-8B33-57CBB820AC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8EB93C-5277-48D9-B7FE-E404C112E7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98639E-BCAA-4CF2-9002-1BC0E55EA2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7ADAAF-E253-4B5E-91C6-7FFA847D48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900912-D5E6-4E7E-97A1-D332D59BB1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6628C0-30F0-40D3-90B6-9BBB2FCEB7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38629C-626D-44AE-A90B-77F1B68A3F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B1EBB6-8FAB-4249-86A3-ED14E33B0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AEE8ED-B995-4923-93F3-8EC43FB1BE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29EC64-CB53-41E3-A961-232CFB805D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29A8D5-335F-403E-A404-FE8F5DA26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F8DECF-4CCC-45BC-8922-9F733FECAC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8CA64E-F055-4C99-BB99-9B87770761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7E12A4-3FC2-4421-B396-4C2E8DC0C4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078007-5703-43AB-AC0A-9CA5127C5B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C005B77-8F1F-493E-8EE2-49674B95B6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79310-E3FF-48A5-8373-E905D64CE1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1DC2B3-422B-4585-AEA9-B20565FD4D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CC5924-FBF9-489B-92E2-B2AD84D518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1AB63A-11D2-4798-8EED-E07A5369AC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4931F9-5F6C-4642-B665-22CF606E36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AB2DE56-A7AD-4275-B836-52306CF60EA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95E6C4-4A3C-4988-9B13-C078023C8E8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8CFC872-4E36-43AA-8220-2D684891C32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88B041-9238-4004-8C6A-5FB86F5EA2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7/24/2026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9804F6-DCAB-4EBC-BEC5-B665EC051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3B182F-36B7-40D0-B6EB-B6D988E037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042359-E366-4458-B904-9C66FE29F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827B4A-B91C-4C6F-B69A-45AFE1FF83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7/24/2026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445241-1293-46AD-AAF5-8A04BAF8E6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A484F0-BC9A-4E64-8E23-9BA2C9CBF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EE3A10-267C-40D2-A6DC-7BB9E7931E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7/24/2026</a:t>
            </a:fld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D78A7F-131B-4B4C-8069-3D1339A2C1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1588F5-5C7B-4101-A369-9B09377A88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B2F753-7649-4275-9837-56CDA6C6A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2EA6D4-FDAC-41ED-B1B5-DF0FFFE282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0254219-BD39-48AF-84CC-FA609D8B32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74E27B-A346-4C25-9703-63784FF8B6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DD6093-B32D-425F-9306-8BD0D60D0A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CEE9B3-9773-43CC-AEE4-889B881D26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B9EB57-3208-4398-B4E0-56F27B755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F8E3816-3B61-407A-AB63-0BC8801398F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2C020E5-CBCB-4E54-88C4-B253F5AE39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7015FA-6BBA-4B4B-B1A2-BA42E41F39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6A49EC-28C4-48A2-82E6-C679A324A3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E411A5-AAB5-4F68-B983-890855207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8116E0-76C5-4220-8539-C24B9B0A8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EA2BCF-5E43-48D3-A180-C5768F019C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1583BE-0E53-4856-B41B-156B464E4A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FCD840-35F6-48C5-AADC-6219FF48D1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A318F0-B327-4E52-9167-8EE1C20DDD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D10175E-E87D-4290-BB5E-F5156A776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9C5D7C-8EA7-49DC-924B-5DAA5EA6DB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176968-E98F-49D5-A7DA-BC49A5C7A2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8F1B6B-9C0D-422D-ACB8-97A3B8851B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4D1AA-25E3-4DD9-AE51-795B34F934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2298d7d4f742ac" /><Relationship Type="http://schemas.openxmlformats.org/officeDocument/2006/relationships/slideLayout" Target="/ppt/slideLayouts/slideLayout1.xml" Id="Rdbbabf95c1114d81" /><Relationship Type="http://schemas.openxmlformats.org/officeDocument/2006/relationships/slideLayout" Target="/ppt/slideLayouts/slideLayout2.xml" Id="R92108acf8b524a4f" /><Relationship Type="http://schemas.openxmlformats.org/officeDocument/2006/relationships/slideLayout" Target="/ppt/slideLayouts/slideLayout3.xml" Id="R8e03bc8ba949482a" /><Relationship Type="http://schemas.openxmlformats.org/officeDocument/2006/relationships/slideLayout" Target="/ppt/slideLayouts/slideLayout4.xml" Id="R17bcf2da5f044cef" /><Relationship Type="http://schemas.openxmlformats.org/officeDocument/2006/relationships/slideLayout" Target="/ppt/slideLayouts/slideLayout5.xml" Id="R9263b54fb9254589" /><Relationship Type="http://schemas.openxmlformats.org/officeDocument/2006/relationships/slideLayout" Target="/ppt/slideLayouts/slideLayout6.xml" Id="Rd534b1020adc4e17" /><Relationship Type="http://schemas.openxmlformats.org/officeDocument/2006/relationships/slideLayout" Target="/ppt/slideLayouts/slideLayout7.xml" Id="Ra4ebe8cc553249ff" /><Relationship Type="http://schemas.openxmlformats.org/officeDocument/2006/relationships/slideLayout" Target="/ppt/slideLayouts/slideLayout8.xml" Id="R63583b3fa9004e2c" /><Relationship Type="http://schemas.openxmlformats.org/officeDocument/2006/relationships/slideLayout" Target="/ppt/slideLayouts/slideLayout9.xml" Id="R063fcaf646994980" /><Relationship Type="http://schemas.openxmlformats.org/officeDocument/2006/relationships/slideLayout" Target="/ppt/slideLayouts/slideLayout10.xml" Id="R905e80d681404097" /><Relationship Type="http://schemas.openxmlformats.org/officeDocument/2006/relationships/slideLayout" Target="/ppt/slideLayouts/slideLayout11.xml" Id="R9509979367d7414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EF9004E-6662-4210-B4BE-5166DB8B7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3CF471-B48D-4EC6-B744-C0736A4059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C15F5C-ACF7-48E2-BC9F-98528738D6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A8527E-CE61-40D0-B9D9-3FEFCE94ED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321066-9DE3-4070-97EF-8E8398C2BE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babf95c1114d81"/>
    <p:sldLayoutId xmlns:r="http://schemas.openxmlformats.org/officeDocument/2006/relationships" id="2147483650" r:id="R92108acf8b524a4f"/>
    <p:sldLayoutId xmlns:r="http://schemas.openxmlformats.org/officeDocument/2006/relationships" id="2147483651" r:id="R8e03bc8ba949482a"/>
    <p:sldLayoutId xmlns:r="http://schemas.openxmlformats.org/officeDocument/2006/relationships" id="2147483652" r:id="R17bcf2da5f044cef"/>
    <p:sldLayoutId xmlns:r="http://schemas.openxmlformats.org/officeDocument/2006/relationships" id="2147483653" r:id="R9263b54fb9254589"/>
    <p:sldLayoutId xmlns:r="http://schemas.openxmlformats.org/officeDocument/2006/relationships" id="2147483654" r:id="Rd534b1020adc4e17"/>
    <p:sldLayoutId xmlns:r="http://schemas.openxmlformats.org/officeDocument/2006/relationships" id="2147483655" r:id="Ra4ebe8cc553249ff"/>
    <p:sldLayoutId xmlns:r="http://schemas.openxmlformats.org/officeDocument/2006/relationships" id="2147483656" r:id="R63583b3fa9004e2c"/>
    <p:sldLayoutId xmlns:r="http://schemas.openxmlformats.org/officeDocument/2006/relationships" id="2147483657" r:id="R063fcaf646994980"/>
    <p:sldLayoutId xmlns:r="http://schemas.openxmlformats.org/officeDocument/2006/relationships" id="2147483658" r:id="R905e80d681404097"/>
    <p:sldLayoutId xmlns:r="http://schemas.openxmlformats.org/officeDocument/2006/relationships" id="2147483659" r:id="R9509979367d7414f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8e113266840ad" /><Relationship Type="http://schemas.openxmlformats.org/officeDocument/2006/relationships/notesSlide" Target="/ppt/notesSlides/notesSlide1.xml" Id="Rd6ffe0fd24f9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3196c1d64c49b4" /><Relationship Type="http://schemas.openxmlformats.org/officeDocument/2006/relationships/image" Target="/ppt/media/image.png" Id="R00182cb885f141d2" /><Relationship Type="http://schemas.openxmlformats.org/officeDocument/2006/relationships/notesSlide" Target="/ppt/notesSlides/notesSlide2.xml" Id="R36d1bf9017a5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2efc1ca48c4b19" /><Relationship Type="http://schemas.openxmlformats.org/officeDocument/2006/relationships/image" Target="/ppt/media/image2.png" Id="Ra1601b3c77c0438d" /><Relationship Type="http://schemas.openxmlformats.org/officeDocument/2006/relationships/notesSlide" Target="/ppt/notesSlides/notesSlide3.xml" Id="R067936e61e3e46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9e50f227f41a1" /><Relationship Type="http://schemas.openxmlformats.org/officeDocument/2006/relationships/image" Target="/ppt/media/image3.png" Id="Ra2de6b2973d842b7" /><Relationship Type="http://schemas.openxmlformats.org/officeDocument/2006/relationships/notesSlide" Target="/ppt/notesSlides/notesSlide4.xml" Id="R92c30b212b9748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88e2e711904825" /><Relationship Type="http://schemas.openxmlformats.org/officeDocument/2006/relationships/image" Target="/ppt/media/image4.png" Id="Rad8c649e0be64619" /><Relationship Type="http://schemas.openxmlformats.org/officeDocument/2006/relationships/image" Target="/ppt/media/image5.png" Id="Rbdc32dd20f10451e" /><Relationship Type="http://schemas.openxmlformats.org/officeDocument/2006/relationships/image" Target="/ppt/media/image6.png" Id="Rb787950a72a14148" /><Relationship Type="http://schemas.openxmlformats.org/officeDocument/2006/relationships/notesSlide" Target="/ppt/notesSlides/notesSlide5.xml" Id="Raa6e44ae96f24d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b60a5eed9f43de" /><Relationship Type="http://schemas.openxmlformats.org/officeDocument/2006/relationships/notesSlide" Target="/ppt/notesSlides/notesSlide6.xml" Id="R9cbce445570143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6" name="Subtitle 3">
            <a:extLst xmlns:a="http://schemas.openxmlformats.org/drawingml/2006/main"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75" y="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/>
            </a: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ECO-LOOP BUILDING AGENTS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74" y="1203454"/>
            <a:ext cx="592455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ID – Question 1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Title – Eco-Loop Building Agents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 – Sustainable Buildings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Category – Software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Student – Gokulan Malli Jayaprakash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ID – C10421040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BE5BFE3C-7351-4214-AEA8-E406285CB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ECO-LOOP BUILDING AGENTS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6E88B4D3-423B-4591-B7B8-CB5DEF51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85875"/>
            <a:ext cx="5953125" cy="496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 u="sng">
                <a:latin typeface="Arial"/>
                <a:ea typeface="Arial"/>
                <a:cs typeface="Arial"/>
              </a:rPr>
              <a:t>Proposed Solution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</a:p>
          <a:p xmlns:a="http://schemas.openxmlformats.org/drawingml/2006/main">
            <a:pPr marL="342900" indent="-342900">
              <a:buFont typeface="Arial"/>
              <a:buChar char="•"/>
            </a:p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EnergyPlus streams five-zone temperature, occupancy, PMV and HVAC energy.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 LangGraph runs Energy → Comfort → Supervisor → Safety → Action → Reflection.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Measured: 16.09% less HVAC energy; occupied comfort rises from 76.00% to 90.64%.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2AB594-5315-4595-B42E-52F5F653CB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rPr b="1">
                <a:solidFill>
                  <a:schemeClr val="bg1"/>
                </a:solidFill>
              </a:rPr>
              <a:t>2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595D8EF-F095-45DC-A48F-C5FC20FA19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53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82cb885f141d2"/>
          <a:stretch xmlns:a="http://schemas.openxmlformats.org/drawingml/2006/main"/>
        </p:blipFill>
        <p:spPr>
          <a:xfrm xmlns:a="http://schemas.openxmlformats.org/drawingml/2006/main">
            <a:off x="6477000" y="2088059"/>
            <a:ext cx="5238750" cy="31105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581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287C331-1769-479E-A9CD-8E78ABD09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0CCCF81C-19DF-4BCD-ACC7-D2B25F63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28750"/>
            <a:ext cx="5286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Stack: Python 3.12, EnergyPlus 26.1, LangGraph, FastMCP, Pydantic, Streamlit and Qwen3 4B.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Loop: observe → agents → safety → server reauthorization → actuation → measured reflection.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ABDFC7-311D-4216-9F73-04B22E7643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 b="1">
                <a:solidFill>
                  <a:schemeClr val="bg1"/>
                </a:solidFill>
              </a:rPr>
              <a:t>3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5FBB332-4F32-4363-B847-3A9F7EA4A1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74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01b3c77c0438d"/>
          <a:stretch xmlns:a="http://schemas.openxmlformats.org/drawingml/2006/main"/>
        </p:blipFill>
        <p:spPr>
          <a:xfrm xmlns:a="http://schemas.openxmlformats.org/drawingml/2006/main">
            <a:off x="5857875" y="1970484"/>
            <a:ext cx="5715000" cy="33932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170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0327A66-6921-4D16-BD72-F3F2F6AD3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A261F6FB-3016-4A93-A5E8-4D3E3FAD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81125"/>
            <a:ext cx="5381625" cy="478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Proven locally: 672 timesteps, 168/168 actions, 6.05 s and zero severe errors.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Risks: unsafe output, stale actions, timeout, comfort conflict and irreproducible runs.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Mitigation: PMV guard, 22–28°C bounds, 1°C limit, double authorization and immutable runs.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AA899E-4B74-4297-A234-2572D286AA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FD6AB9A-5F9E-5F59-51AB-3C8734130965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0D72FE2-A1E6-4B6A-849B-3D4F3E6985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</a:p>
        </p:txBody>
      </p:sp>
      <p:pic>
        <p:nvPicPr>
          <p:cNvPr id="174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e6b2973d842b7"/>
          <a:stretch xmlns:a="http://schemas.openxmlformats.org/drawingml/2006/main"/>
        </p:blipFill>
        <p:spPr>
          <a:xfrm xmlns:a="http://schemas.openxmlformats.org/drawingml/2006/main">
            <a:off x="5953125" y="2651448"/>
            <a:ext cx="5619750" cy="17456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ARTIFACTS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95375"/>
            <a:ext cx="11049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Working proof: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Source, IDFs, lockfile and 377 tests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Real EnergyPlus, PMV and agent evidence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Isolated Live Scenario Lab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</a:p>
        </p:txBody>
      </p:sp>
      <p:pic>
        <p:nvPicPr>
          <p:cNvPr id="17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c649e0be64619"/>
          <a:stretch xmlns:a="http://schemas.openxmlformats.org/drawingml/2006/main"/>
        </p:blipFill>
        <p:spPr>
          <a:xfrm xmlns:a="http://schemas.openxmlformats.org/drawingml/2006/main">
            <a:off x="333375" y="2989130"/>
            <a:ext cx="3667125" cy="2546615"/>
          </a:xfrm>
          <a:prstGeom xmlns:a="http://schemas.openxmlformats.org/drawingml/2006/main" prst="rect">
            <a:avLst/>
          </a:prstGeom>
        </p:spPr>
      </p:pic>
      <p:pic>
        <p:nvPicPr>
          <p:cNvPr id="174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32dd20f10451e"/>
          <a:stretch xmlns:a="http://schemas.openxmlformats.org/drawingml/2006/main"/>
        </p:blipFill>
        <p:spPr>
          <a:xfrm xmlns:a="http://schemas.openxmlformats.org/drawingml/2006/main">
            <a:off x="4257675" y="3627992"/>
            <a:ext cx="3667125" cy="1268890"/>
          </a:xfrm>
          <a:prstGeom xmlns:a="http://schemas.openxmlformats.org/drawingml/2006/main" prst="rect">
            <a:avLst/>
          </a:prstGeom>
        </p:spPr>
      </p:pic>
      <p:pic>
        <p:nvPicPr>
          <p:cNvPr id="174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7950a72a14148"/>
          <a:stretch xmlns:a="http://schemas.openxmlformats.org/drawingml/2006/main"/>
        </p:blipFill>
        <p:spPr>
          <a:xfrm xmlns:a="http://schemas.openxmlformats.org/drawingml/2006/main">
            <a:off x="8181975" y="2989130"/>
            <a:ext cx="3667125" cy="25466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FCB6F79-5868-4E8B-99E2-4A207AD54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8A74CD61-7122-4107-89DA-CFC1941C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10953750" cy="521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EnergyPlus Python API — energyplus.readthedocs.io/en/latest/api.html
Fanger PMV — bigladdersoftware.com/epx/docs/25-1/input-output-reference/
LangGraph — github.com/langchain-ai/langgraph
Model Context Protocol Python SDK — github.com/modelcontextprotocol/python-sdk
Ollama structured chat — docs.ollama.com/api/chat
Project evidence — controlled-run001-optimized-v3; 377 tests; 90.47% branch coverage
Honest boundary — accepted metrics use the deterministic optimizer; Qwen3 4B is advisory and cannot bypass safety.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0B5231-7921-4554-ACF6-111E2DFED8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83A1919-7605-473F-9485-99F4F94542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2026-07-26T16:13:20.5110000Z</dcterms:created>
  <dcterms:modified xsi:type="dcterms:W3CDTF">2026-07-26T16:13:20.5110000Z</dcterms:modified>
</coreProperties>
</file>