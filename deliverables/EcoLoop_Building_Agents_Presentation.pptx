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1141a5bc194211" /><Relationship Type="http://schemas.openxmlformats.org/officeDocument/2006/relationships/extended-properties" Target="/docProps/app.xml" Id="R424fd3e322d948fe" /><Relationship Type="http://schemas.openxmlformats.org/officeDocument/2006/relationships/officeDocument" Target="/ppt/presentation.xml" Id="R95f7813f5e174a5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1265987235e45ee"/>
  </p:sldMasterIdLst>
  <p:notesMasterIdLst>
    <p:notesMasterId xmlns:r="http://schemas.openxmlformats.org/officeDocument/2006/relationships" r:id="Ra31d8f9ba0ca48aa"/>
  </p:notesMasterIdLst>
  <p:sldIdLst>
    <p:sldId xmlns:r="http://schemas.openxmlformats.org/officeDocument/2006/relationships" id="256" r:id="Ra69e7337386e47c6"/>
    <p:sldId xmlns:r="http://schemas.openxmlformats.org/officeDocument/2006/relationships" id="257" r:id="Ra1b3e8360ebf44c2"/>
    <p:sldId xmlns:r="http://schemas.openxmlformats.org/officeDocument/2006/relationships" id="258" r:id="Re8c11dadb154477f"/>
    <p:sldId xmlns:r="http://schemas.openxmlformats.org/officeDocument/2006/relationships" id="259" r:id="R0a3dd86a0570449b"/>
    <p:sldId xmlns:r="http://schemas.openxmlformats.org/officeDocument/2006/relationships" id="260" r:id="Rf7600025a6a24e60"/>
    <p:sldId xmlns:r="http://schemas.openxmlformats.org/officeDocument/2006/relationships" id="261" r:id="Rd7a30a1e2457487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ff62aacd4634421" /><Relationship Type="http://schemas.openxmlformats.org/officeDocument/2006/relationships/slideMaster" Target="/ppt/slideMasters/slideMaster1.xml" Id="R51265987235e45ee" /><Relationship Type="http://schemas.openxmlformats.org/officeDocument/2006/relationships/notesMaster" Target="/ppt/notesMasters/notesMaster1.xml" Id="Ra31d8f9ba0ca48aa" /><Relationship Type="http://schemas.openxmlformats.org/officeDocument/2006/relationships/presProps" Target="/ppt/presProps.xml" Id="R34833818453648aa" /><Relationship Type="http://schemas.openxmlformats.org/officeDocument/2006/relationships/viewProps" Target="/ppt/viewProps.xml" Id="Racdebb7a6033413e" /><Relationship Type="http://schemas.openxmlformats.org/officeDocument/2006/relationships/tableStyles" Target="/ppt/tableStyles.xml" Id="R8d8e93d44e374b39" /><Relationship Type="http://schemas.openxmlformats.org/officeDocument/2006/relationships/slide" Target="/ppt/slides/slide1.xml" Id="Ra69e7337386e47c6" /><Relationship Type="http://schemas.openxmlformats.org/officeDocument/2006/relationships/slide" Target="/ppt/slides/slide2.xml" Id="Ra1b3e8360ebf44c2" /><Relationship Type="http://schemas.openxmlformats.org/officeDocument/2006/relationships/slide" Target="/ppt/slides/slide3.xml" Id="Re8c11dadb154477f" /><Relationship Type="http://schemas.openxmlformats.org/officeDocument/2006/relationships/slide" Target="/ppt/slides/slide4.xml" Id="R0a3dd86a0570449b" /><Relationship Type="http://schemas.openxmlformats.org/officeDocument/2006/relationships/slide" Target="/ppt/slides/slide5.xml" Id="Rf7600025a6a24e60" /><Relationship Type="http://schemas.openxmlformats.org/officeDocument/2006/relationships/slide" Target="/ppt/slides/slide6.xml" Id="Rd7a30a1e2457487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6557a67ffb846c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fe705ded3c44e4" /><Relationship Type="http://schemas.openxmlformats.org/officeDocument/2006/relationships/notesMaster" Target="/ppt/notesMasters/notesMaster1.xml" Id="R9609685821524a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63ae282b41c40ed" /><Relationship Type="http://schemas.openxmlformats.org/officeDocument/2006/relationships/notesMaster" Target="/ppt/notesMasters/notesMaster1.xml" Id="Rc109f4ab78da48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13963b5e2f74721" /><Relationship Type="http://schemas.openxmlformats.org/officeDocument/2006/relationships/notesMaster" Target="/ppt/notesMasters/notesMaster1.xml" Id="Rd4fdd763987a453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1ec0d9a1b574780" /><Relationship Type="http://schemas.openxmlformats.org/officeDocument/2006/relationships/notesMaster" Target="/ppt/notesMasters/notesMaster1.xml" Id="R1f477a675dc04d3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13a7336b3ce4680" /><Relationship Type="http://schemas.openxmlformats.org/officeDocument/2006/relationships/notesMaster" Target="/ppt/notesMasters/notesMaster1.xml" Id="Rb1cd7ddfa29f487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740796c13554170" /><Relationship Type="http://schemas.openxmlformats.org/officeDocument/2006/relationships/notesMaster" Target="/ppt/notesMasters/notesMaster1.xml" Id="Rc1a82b5b838d42e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the problem: rigid BMS schedules waste energy and cannot adapt to weather, occupancy, or comfort. Eco-Loop closes that loop inside EnergyPlus.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V:\BMS_automation\questions\Screenshot 2026-07-25 191031.png</a:t>
            </a:r>
          </a:p>
          <a:p xmlns:a="http://schemas.openxmlformats.org/drawingml/2006/main">
            <a:r>
              <a:t>- V:\BMS_simulation\pyproject.toml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State the exact accepted outcome. The quantitative run uses the deterministic optimizer through the same autonomous LangGraph, safety, FastMCP and EnergyPlus path; Qwen remains advisory and safely fallible.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V:\BMS_simulation\artifacts\accepted-run\comparison.csv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V:\BMS_simulation\artifacts\accepted-run\summary.json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V:\BMS_simulation\artifacts\demo\01-overview.png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Explain the trust boundary: agents propose; deterministic validation and FastMCP independently reauthorize the exact setpoint before EnergyPlus can be changed. Provider timeout or malformed output abstains into a bounded fallback.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V:\BMS_simulation\docs\architecture.md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V:\BMS_simulation\docs\techspec.md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V:\BMS_simulation\artifacts\demo\05-agents-decisions.png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Emphasize that feasibility is demonstrated rather than estimated: 40.3306 kWh baseline versus 33.8408 kWh controlled, 90.64% comfort compliance, five emergency violations in both cases, and zero severe EnergyPlus errors.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V:\BMS_simulation\artifacts\accepted-run\comparison.csv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V:\BMS_simulation\artifacts\accepted-run\summary.json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V:\BMS_simulation\artifacts\demo\04-energy.png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V:\BMS_simulation\docs\environment-report.md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Differentiate the evidence: the Results view and immutable run artifacts prove the real EnergyPlus result. The Live Scenario Lab is deliberately isolated and is only an interactive reduced-order demonstration.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V:\BMS_simulation\artifacts\demo\09-real-energyplus-live-demo.png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V:\BMS_simulation\artifacts\demo\02-comfort.png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V:\BMS_simulation\artifacts\demo\06-live-scenario-lab.png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V:\BMS_simulation\README.md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spcBef>
                <a:spcPct val="0"/>
              </a:spcBef>
              <a:buNone/>
            </a:pPr>
            <a:r>
              <a:t>Close on defensible novelty: inspectable multi-agent autonomy, comfort-constrained optimization, and double authorization at the actuator boundary. Do not claim that Qwen produced the accepted 16.09% result.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/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[Sources]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V:\BMS_simulation\docs\techspec.md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V:\BMS_simulation\docs\architecture.md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V:\BMS_simulation\artifacts\accepted-run\summary.json</a:t>
            </a:r>
          </a:p>
          <a:p xmlns:a="http://schemas.openxmlformats.org/drawingml/2006/main">
            <a:pPr>
              <a:spcBef>
                <a:spcPct val="0"/>
              </a:spcBef>
              <a:buNone/>
            </a:pPr>
            <a:r>
              <a:t>- V:\BMS_simulation\docs\current-status.md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f568fae1e049c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3b495479bb460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78341b4aa432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5b7d224a434d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d7c88d6b847494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cc60e1652f4cff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a7627deea5b4d9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603c2b80d14ab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5f8a43403d4126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db2de1d5ebd463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2a7021b096432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F37B63-6586-44E8-8225-FF9B1E06374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4400" y="2130428"/>
            <a:ext cx="103632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6E765B-1DD6-47BA-B1F3-1453994BBE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886200"/>
            <a:ext cx="85344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B2F60D9-05D2-4330-8B33-57CBB820AC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60792E3-D524-454C-8AFD-A91972900BCB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58EB93C-5277-48D9-B7FE-E404C112E7E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C98639E-BCAA-4CF2-9002-1BC0E55EA26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5B7E1BAA-A38D-40DE-B22C-DF9BD7D82058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7ADAAF-E253-4B5E-91C6-7FFA847D486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7900912-D5E6-4E7E-97A1-D332D59BB1A0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86628C0-30F0-40D3-90B6-9BBB2FCEB70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08B7524-32A2-4C20-A58C-BC3BAA1042FC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338629C-626D-44AE-A90B-77F1B68A3F5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B1EBB6-8FAB-4249-86A3-ED14E33B08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77C3CE7-23F7-4828-823C-E0205DF2CF97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AEE8ED-B995-4923-93F3-8EC43FB1BE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3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929EC64-CB53-41E3-A961-232CFB805D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829A8D5-335F-403E-A404-FE8F5DA2680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E994447-D6B2-43BB-A877-57F1A267B999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EF8DECF-4CCC-45BC-8922-9F733FECAC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78CA64E-F055-4C99-BB99-9B87770761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41DB31D2-2A87-4F4C-A9AD-05C6CC2B321D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57E12A4-3FC2-4421-B396-4C2E8DC0C4F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2078007-5703-43AB-AC0A-9CA5127C5B4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C005B77-8F1F-493E-8EE2-49674B95B63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3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A579310-E3FF-48A5-8373-E905D64CE13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8920E16-BD35-483C-AA6B-346FC7E46DEA}" type="datetime1">
              <a:t>7/24/2026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1DC2B3-422B-4585-AEA9-B20565FD4D7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9CC5924-FBF9-489B-92E2-B2AD84D518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1FC16D9-1635-4844-816A-0A8A2160FADA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1AB63A-11D2-4798-8EED-E07A5369AC7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4931F9-5F6C-4642-B665-22CF606E368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AB2DE56-A7AD-4275-B836-52306CF60EA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C95E6C4-4A3C-4988-9B13-C078023C8E8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69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98CFC872-4E36-43AA-8220-2D684891C32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69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88B041-9238-4004-8C6A-5FB86F5EA2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EAC6F8-5103-4FC0-A69E-5C6AE6469DA8}" type="datetime1">
              <a:t>7/24/2026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59804F6-DCAB-4EBC-BEC5-B665EC0513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9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F3B182F-36B7-40D0-B6EB-B6D988E037F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71C4100A-98DE-4944-910A-A93F5CA9F724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7042359-E366-4458-B904-9C66FE29F2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C827B4A-B91C-4C6F-B69A-45AFE1FF83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60C6921-0627-4C8F-83D5-0CF936D2FFDD}" type="datetime1">
              <a:t>7/24/2026</a:t>
            </a:fld>
          </a:p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5445241-1293-46AD-AAF5-8A04BAF8E66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AA484F0-BC9A-4E64-8E23-9BA2C9CBFCE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6A63342B-5A73-45DC-864D-086DE78037E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1EE3A10-267C-40D2-A6DC-7BB9E7931E5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FF08AD7-8103-40F8-983C-E2BA6BB9CBE0}" type="datetime1">
              <a:t>7/24/2026</a:t>
            </a:fld>
          </a:p>
        </p:txBody>
      </p:sp>
      <p:sp>
        <p:nvSpPr>
          <p:cNvPr id="3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6D78A7F-131B-4B4C-8069-3D1339A2C19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4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1588F5-5C7B-4101-A369-9B09377A88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B635AFB3-1ACD-44AC-8702-86B1729DF035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4B2F753-7649-4275-9837-56CDA6C6A2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2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D2EA6D4-FDAC-41ED-B1B5-DF0FFFE2821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3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30254219-BD39-48AF-84CC-FA609D8B327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2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074E27B-A346-4C25-9703-63784FF8B6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DF8C06B4-9380-4A4D-AF49-A3596E17DAF5}" type="datetime1">
              <a:t>7/24/2026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4DD6093-B32D-425F-9306-8BD0D60D0A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9CEE9B3-9773-43CC-AEE4-889B881D26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CF15F3-5E77-4C57-9E21-50D6D1D6C022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B9EB57-3208-4398-B4E0-56F27B755E1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F8E3816-3B61-407A-AB63-0BC8801398F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pPr lvl="0">
              <a:buNone/>
            </a:pP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2C020E5-CBCB-4E54-88C4-B253F5AE396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77015FA-6BBA-4B4B-B1A2-BA42E41F39C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EF7FDEF1-C582-4E22-9E77-D68326471F28}" type="datetime1">
              <a:t>7/24/2026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F6A49EC-28C4-48A2-82E6-C679A324A3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7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E411A5-AAB5-4F68-B983-8908552077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1242169A-B3C7-4FB6-967F-AF95F4EB3315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8116E0-76C5-4220-8539-C24B9B0A86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5EA2BCF-5E43-48D3-A180-C5768F019C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81583BE-0E53-4856-B41B-156B464E4A9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053C3A68-6922-42D3-8905-ECC2D82A3469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5FCD840-35F6-48C5-AADC-6219FF48D19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7A318F0-B327-4E52-9167-8EE1C20DDD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94FDD027-5576-4F27-AAB6-1D994836EE78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0D10175E-E87D-4290-BB5E-F5156A776D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1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B9C5D7C-8EA7-49DC-924B-5DAA5EA6DB3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1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0176968-E98F-49D5-A7DA-BC49A5C7A2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CB69E9F4-7604-4950-A8B2-8ACDEDB1506E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8F1B6B-9C0D-422D-ACB8-97A3B8851B1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E4D1AA-25E3-4DD9-AE51-795B34F934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fld id="{2957CE61-8714-431B-A40A-01B1C5541AB7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36e71431f874f42" /><Relationship Type="http://schemas.openxmlformats.org/officeDocument/2006/relationships/slideLayout" Target="/ppt/slideLayouts/slideLayout1.xml" Id="Rf41f101f26204e33" /><Relationship Type="http://schemas.openxmlformats.org/officeDocument/2006/relationships/slideLayout" Target="/ppt/slideLayouts/slideLayout2.xml" Id="Rb787c1983bf342c9" /><Relationship Type="http://schemas.openxmlformats.org/officeDocument/2006/relationships/slideLayout" Target="/ppt/slideLayouts/slideLayout3.xml" Id="R57966ef84c7142d8" /><Relationship Type="http://schemas.openxmlformats.org/officeDocument/2006/relationships/slideLayout" Target="/ppt/slideLayouts/slideLayout4.xml" Id="R52cfc937e7d54a29" /><Relationship Type="http://schemas.openxmlformats.org/officeDocument/2006/relationships/slideLayout" Target="/ppt/slideLayouts/slideLayout5.xml" Id="R66af56f117a94db0" /><Relationship Type="http://schemas.openxmlformats.org/officeDocument/2006/relationships/slideLayout" Target="/ppt/slideLayouts/slideLayout6.xml" Id="Rf3c728b214944449" /><Relationship Type="http://schemas.openxmlformats.org/officeDocument/2006/relationships/slideLayout" Target="/ppt/slideLayouts/slideLayout7.xml" Id="R41ebb54a3aad4157" /><Relationship Type="http://schemas.openxmlformats.org/officeDocument/2006/relationships/slideLayout" Target="/ppt/slideLayouts/slideLayout8.xml" Id="R2884474818da4ff1" /><Relationship Type="http://schemas.openxmlformats.org/officeDocument/2006/relationships/slideLayout" Target="/ppt/slideLayouts/slideLayout9.xml" Id="R34c0a1cf08af409c" /><Relationship Type="http://schemas.openxmlformats.org/officeDocument/2006/relationships/slideLayout" Target="/ppt/slideLayouts/slideLayout10.xml" Id="R170cdf54e48e495e" /><Relationship Type="http://schemas.openxmlformats.org/officeDocument/2006/relationships/slideLayout" Target="/ppt/slideLayouts/slideLayout11.xml" Id="Ra3efc750e77e40d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6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BEF9004E-6662-4210-B4BE-5166DB8B782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-47625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title style</a:t>
            </a:r>
          </a:p>
        </p:txBody>
      </p:sp>
      <p:sp>
        <p:nvSpPr>
          <p:cNvPr id="1027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953CF471-B48D-4EC6-B744-C0736A4059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095375"/>
            <a:ext cx="10972800" cy="50307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CC15F5C-ACF7-48E2-BC9F-98528738D636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780A9602-A9A9-453F-AEF1-37B5837E02CD}" type="datetime1">
              <a:t>7/24/2026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AA8527E-CE61-40D0-B9D9-3FEFCE94EDA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3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321066-9DE3-4070-97EF-8E8398C2BED8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3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wrap="square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rgbClr val="898989"/>
                </a:solidFill>
                <a:latin typeface="TradeGothic"/>
                <a:ea typeface="TradeGothic"/>
                <a:cs typeface="TradeGothic"/>
              </a:defRPr>
            </a:lvl1pPr>
          </a:lstStyle>
          <a:p xmlns:a="http://schemas.openxmlformats.org/drawingml/2006/main">
            <a:fld id="{1411BA53-830D-4830-BB65-E58DBE17D0B7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41f101f26204e33"/>
    <p:sldLayoutId xmlns:r="http://schemas.openxmlformats.org/officeDocument/2006/relationships" id="2147483650" r:id="Rb787c1983bf342c9"/>
    <p:sldLayoutId xmlns:r="http://schemas.openxmlformats.org/officeDocument/2006/relationships" id="2147483651" r:id="R57966ef84c7142d8"/>
    <p:sldLayoutId xmlns:r="http://schemas.openxmlformats.org/officeDocument/2006/relationships" id="2147483652" r:id="R52cfc937e7d54a29"/>
    <p:sldLayoutId xmlns:r="http://schemas.openxmlformats.org/officeDocument/2006/relationships" id="2147483653" r:id="R66af56f117a94db0"/>
    <p:sldLayoutId xmlns:r="http://schemas.openxmlformats.org/officeDocument/2006/relationships" id="2147483654" r:id="Rf3c728b214944449"/>
    <p:sldLayoutId xmlns:r="http://schemas.openxmlformats.org/officeDocument/2006/relationships" id="2147483655" r:id="R41ebb54a3aad4157"/>
    <p:sldLayoutId xmlns:r="http://schemas.openxmlformats.org/officeDocument/2006/relationships" id="2147483656" r:id="R2884474818da4ff1"/>
    <p:sldLayoutId xmlns:r="http://schemas.openxmlformats.org/officeDocument/2006/relationships" id="2147483657" r:id="R34c0a1cf08af409c"/>
    <p:sldLayoutId xmlns:r="http://schemas.openxmlformats.org/officeDocument/2006/relationships" id="2147483658" r:id="R170cdf54e48e495e"/>
    <p:sldLayoutId xmlns:r="http://schemas.openxmlformats.org/officeDocument/2006/relationships" id="2147483659" r:id="Ra3efc750e77e40d7"/>
  </p:sldLayoutIdLst>
  <p:hf hdr="0" dt="0"/>
  <p:txStyles>
    <p:titleStyle>
      <a:lvl1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4572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6pPr>
      <a:lvl7pPr xmlns:a="http://schemas.openxmlformats.org/drawingml/2006/main" marL="9144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7pPr>
      <a:lvl8pPr xmlns:a="http://schemas.openxmlformats.org/drawingml/2006/main" marL="13716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8pPr>
      <a:lvl9pPr xmlns:a="http://schemas.openxmlformats.org/drawingml/2006/main" marL="1828800" algn="ctr" defTabSz="457200">
        <a:spcBef>
          <a:spcPct val="0"/>
        </a:spcBef>
        <a:spcAft>
          <a:spcPct val="0"/>
        </a:spcAft>
        <a:buNone/>
        <a:defRPr sz="4400">
          <a:solidFill>
            <a:schemeClr val="tx1"/>
          </a:solidFill>
          <a:latin typeface="TradeGothic"/>
          <a:ea typeface="TradeGothic"/>
          <a:cs typeface="TradeGothic"/>
        </a:defRPr>
      </a:lvl9pPr>
    </p:titleStyle>
    <p:bodyStyle>
      <a:lvl1pPr xmlns:a="http://schemas.openxmlformats.org/drawingml/2006/main" marL="342900" indent="-342900" algn="l" defTabSz="457200">
        <a:spcBef>
          <a:spcPct val="20000"/>
        </a:spcBef>
        <a:spcAft>
          <a:spcPct val="0"/>
        </a:spcAft>
        <a:buFont typeface="Arial"/>
        <a:buChar char="•"/>
        <a:defRPr sz="3200" kern="1200">
          <a:solidFill>
            <a:schemeClr val="tx1"/>
          </a:solidFill>
          <a:latin typeface="TradeGothic"/>
          <a:ea typeface="TradeGothic"/>
          <a:cs typeface="TradeGothic"/>
        </a:defRPr>
      </a:lvl1pPr>
      <a:lvl2pPr xmlns:a="http://schemas.openxmlformats.org/drawingml/2006/main" marL="742950" indent="-285750" algn="l" defTabSz="457200">
        <a:spcBef>
          <a:spcPct val="20000"/>
        </a:spcBef>
        <a:spcAft>
          <a:spcPct val="0"/>
        </a:spcAft>
        <a:buFont typeface="Arial"/>
        <a:buChar char="–"/>
        <a:defRPr sz="2800" kern="1200">
          <a:solidFill>
            <a:schemeClr val="tx1"/>
          </a:solidFill>
          <a:latin typeface="TradeGothic"/>
          <a:ea typeface="TradeGothic"/>
          <a:cs typeface="TradeGothic"/>
        </a:defRPr>
      </a:lvl2pPr>
      <a:lvl3pPr xmlns:a="http://schemas.openxmlformats.org/drawingml/2006/main" marL="1143000" indent="-228600" algn="l" defTabSz="457200">
        <a:spcBef>
          <a:spcPct val="20000"/>
        </a:spcBef>
        <a:spcAft>
          <a:spcPct val="0"/>
        </a:spcAft>
        <a:buFont typeface="Arial"/>
        <a:buChar char="•"/>
        <a:defRPr sz="2400" kern="1200">
          <a:solidFill>
            <a:schemeClr val="tx1"/>
          </a:solidFill>
          <a:latin typeface="TradeGothic"/>
          <a:ea typeface="TradeGothic"/>
          <a:cs typeface="TradeGothic"/>
        </a:defRPr>
      </a:lvl3pPr>
      <a:lvl4pPr xmlns:a="http://schemas.openxmlformats.org/drawingml/2006/main" marL="1600200" indent="-228600" algn="l" defTabSz="457200">
        <a:spcBef>
          <a:spcPct val="20000"/>
        </a:spcBef>
        <a:spcAft>
          <a:spcPct val="0"/>
        </a:spcAft>
        <a:buFont typeface="Arial"/>
        <a:buChar char="–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4pPr>
      <a:lvl5pPr xmlns:a="http://schemas.openxmlformats.org/drawingml/2006/main" marL="2057400" indent="-228600" algn="l" defTabSz="457200">
        <a:spcBef>
          <a:spcPct val="20000"/>
        </a:spcBef>
        <a:spcAft>
          <a:spcPct val="0"/>
        </a:spcAft>
        <a:buFont typeface="Arial"/>
        <a:buChar char="»"/>
        <a:defRPr sz="2000" kern="1200">
          <a:solidFill>
            <a:schemeClr val="tx1"/>
          </a:solidFill>
          <a:latin typeface="TradeGothic"/>
          <a:ea typeface="TradeGothic"/>
          <a:cs typeface="TradeGothic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fb8052b27604ef7" /><Relationship Type="http://schemas.openxmlformats.org/officeDocument/2006/relationships/notesSlide" Target="/ppt/notesSlides/notesSlide1.xml" Id="R7c3508f07a93457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7e72b19f56d46f6" /><Relationship Type="http://schemas.openxmlformats.org/officeDocument/2006/relationships/image" Target="/ppt/media/image.png" Id="Rba72a5c509a1460c" /><Relationship Type="http://schemas.openxmlformats.org/officeDocument/2006/relationships/notesSlide" Target="/ppt/notesSlides/notesSlide2.xml" Id="R13f2a53effc542f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da75bbb223c4f4f" /><Relationship Type="http://schemas.openxmlformats.org/officeDocument/2006/relationships/image" Target="/ppt/media/image2.png" Id="R7f3723d23390438f" /><Relationship Type="http://schemas.openxmlformats.org/officeDocument/2006/relationships/notesSlide" Target="/ppt/notesSlides/notesSlide3.xml" Id="Rf408e06a331b43c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b17ac5153ce45e1" /><Relationship Type="http://schemas.openxmlformats.org/officeDocument/2006/relationships/image" Target="/ppt/media/image3.png" Id="Raf08a78ea134443b" /><Relationship Type="http://schemas.openxmlformats.org/officeDocument/2006/relationships/notesSlide" Target="/ppt/notesSlides/notesSlide4.xml" Id="R73923684a7794b5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5e43729e7e4b9c" /><Relationship Type="http://schemas.openxmlformats.org/officeDocument/2006/relationships/image" Target="/ppt/media/image4.png" Id="Ra5ddad3320044c62" /><Relationship Type="http://schemas.openxmlformats.org/officeDocument/2006/relationships/image" Target="/ppt/media/image5.png" Id="R96b89fd670724c71" /><Relationship Type="http://schemas.openxmlformats.org/officeDocument/2006/relationships/image" Target="/ppt/media/image6.png" Id="Rd458dc210a7c4893" /><Relationship Type="http://schemas.openxmlformats.org/officeDocument/2006/relationships/notesSlide" Target="/ppt/notesSlides/notesSlide5.xml" Id="R48c7de5d25f742b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8991fa35a44e63" /><Relationship Type="http://schemas.openxmlformats.org/officeDocument/2006/relationships/notesSlide" Target="/ppt/notesSlides/notesSlide6.xml" Id="R0c3811ca77a84b8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2A033A5-F70E-7E73-0B8C-FA62C08DEB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@SIH Idea submission- Template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C99EC04-BCF1-5A69-7D5A-95D43C9763A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  <p:sp>
        <p:nvSpPr>
          <p:cNvPr id="6" name="Subtitle 3">
            <a:extLst xmlns:a="http://schemas.openxmlformats.org/drawingml/2006/main">
              <a:ext uri="{FF2B5EF4-FFF2-40B4-BE49-F238E27FC236}">
                <a16:creationId xmlns:a16="http://schemas.microsoft.com/office/drawing/2014/main" id="{E0A8E5C6-6BFC-01E5-DDF5-B6A7738A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975" y="0"/>
            <a:ext cx="109728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wrap="square" lIns="91440" tIns="45720" rIns="91440" bIns="45720" anchor="t"/>
          <a:lstStyle xmlns:a="http://schemas.openxmlformats.org/drawingml/2006/main">
            <a:lvl1pPr marL="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32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1pPr>
            <a:lvl2pPr marL="4572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8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2pPr>
            <a:lvl3pPr marL="9144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4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3pPr>
            <a:lvl4pPr marL="13716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4pPr>
            <a:lvl5pPr marL="1828800" indent="0" algn="ctr" defTabSz="457200">
              <a:spcBef>
                <a:spcPct val="20000"/>
              </a:spcBef>
              <a:spcAft>
                <a:spcPct val="0"/>
              </a:spcAft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TradeGothic"/>
                <a:ea typeface="TradeGothic"/>
                <a:cs typeface="TradeGothic"/>
              </a:defRPr>
            </a:lvl5pPr>
            <a:lvl6pPr marL="22860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6pPr>
            <a:lvl7pPr marL="27432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7pPr>
            <a:lvl8pPr marL="32004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8pPr>
            <a:lvl9pPr marL="3657600" indent="0" algn="ctr" defTabSz="457200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>
                    <a:tint val="75000"/>
                  </a:schemeClr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r>
              <a:t/>
            </a:r>
          </a:p>
          <a:p xmlns:a="http://schemas.openxmlformats.org/drawingml/2006/main">
            <a:r>
              <a:rPr b="1">
                <a:solidFill>
                  <a:schemeClr val="tx1"/>
                </a:solidFill>
                <a:latin typeface="Times New Roman"/>
                <a:ea typeface="Times New Roman"/>
                <a:cs typeface="Times New Roman"/>
              </a:rPr>
              <a:t>ECO-LOOP BUILDING AGENTS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FB1BDE7-2DA0-F526-CF6E-F50D43C2C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7274" y="1203454"/>
            <a:ext cx="592455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PS ID – Question 1</a:t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PS Title – Eco-Loop Building Agents</a:t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Theme – Sustainable Buildings</a:t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Category – Software</a:t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Student – Pragadesh V</a:t>
            </a:r>
          </a:p>
          <a:p xmlns:a="http://schemas.openxmlformats.org/drawingml/2006/main">
            <a:pPr marL="285750" indent="-285750">
              <a:lnSpc>
                <a:spcPct val="200000"/>
              </a:lnSpc>
              <a:buFont typeface="Arial"/>
              <a:buChar char="•"/>
            </a:pPr>
            <a:r>
              <a:rPr sz="2400" b="1">
                <a:latin typeface="Arial"/>
                <a:ea typeface="Arial"/>
                <a:cs typeface="Arial"/>
              </a:rPr>
              <a:t>ID – 2303917710421113</a:t>
            </a:r>
          </a:p>
        </p:txBody>
      </p:sp>
    </p:spTree>
    <p:extLst>
      <p:ext uri="{BB962C8B-B14F-4D97-AF65-F5344CB8AC3E}">
        <p14:creationId xmlns:p14="http://schemas.microsoft.com/office/powerpoint/2010/main" val="3319884780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361" name="Title 1">
            <a:extLst xmlns:a="http://schemas.openxmlformats.org/drawingml/2006/main">
              <a:ext uri="{FF2B5EF4-FFF2-40B4-BE49-F238E27FC236}">
                <a16:creationId xmlns:a16="http://schemas.microsoft.com/office/drawing/2014/main" id="{BE5BFE3C-7351-4214-AEA8-E406285CBD4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975" y="0"/>
            <a:ext cx="10972800" cy="1143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/>
            </a:r>
          </a:p>
          <a:p xmlns:a="http://schemas.openxmlformats.org/drawingml/2006/main">
            <a:pPr>
              <a:buNone/>
            </a:pPr>
            <a:r>
              <a:t>ECO-LOOP BUILDING AGENTS</a:t>
            </a:r>
          </a:p>
        </p:txBody>
      </p:sp>
      <p:sp>
        <p:nvSpPr>
          <p:cNvPr id="15362" name="TextBox 8">
            <a:extLst xmlns:a="http://schemas.openxmlformats.org/drawingml/2006/main">
              <a:ext uri="{FF2B5EF4-FFF2-40B4-BE49-F238E27FC236}">
                <a16:creationId xmlns:a16="http://schemas.microsoft.com/office/drawing/2014/main" id="{6E88B4D3-423B-4591-B7B8-CB5DEF513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285875"/>
            <a:ext cx="5953125" cy="496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3200" b="1" u="sng">
                <a:latin typeface="Arial"/>
                <a:ea typeface="Arial"/>
                <a:cs typeface="Arial"/>
              </a:rPr>
              <a:t>Proposed Solution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</a:p>
          <a:p xmlns:a="http://schemas.openxmlformats.org/drawingml/2006/main">
            <a:pPr marL="342900" indent="-342900">
              <a:buFont typeface="Arial"/>
              <a:buChar char="•"/>
            </a:pP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EnergyPlus streams five-zone temperature, occupancy, PMV and HVAC energy.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 LangGraph runs Energy → Comfort → Supervisor → Safety → Action → Reflection.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Measured: 16.09% less HVAC energy; occupied comfort rises from 76.00% to 90.64%.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2AB594-5315-4595-B42E-52F5F653CB2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rPr b="1">
                <a:solidFill>
                  <a:schemeClr val="bg1"/>
                </a:solidFill>
              </a:rPr>
              <a:t>2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B595D8EF-F095-45DC-A48F-C5FC20FA19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1536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72a5c509a1460c"/>
          <a:stretch xmlns:a="http://schemas.openxmlformats.org/drawingml/2006/main"/>
        </p:blipFill>
        <p:spPr>
          <a:xfrm xmlns:a="http://schemas.openxmlformats.org/drawingml/2006/main">
            <a:off x="6477000" y="2088059"/>
            <a:ext cx="5238750" cy="311050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4158111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A287C331-1769-479E-A9CD-8E78ABD090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975" y="0"/>
            <a:ext cx="10972800" cy="1143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TECHNICAL APPROACH</a:t>
            </a:r>
          </a:p>
        </p:txBody>
      </p:sp>
      <p:sp>
        <p:nvSpPr>
          <p:cNvPr id="17410" name="TextBox 8">
            <a:extLst xmlns:a="http://schemas.openxmlformats.org/drawingml/2006/main">
              <a:ext uri="{FF2B5EF4-FFF2-40B4-BE49-F238E27FC236}">
                <a16:creationId xmlns:a16="http://schemas.microsoft.com/office/drawing/2014/main" id="{0CCCF81C-19DF-4BCD-ACC7-D2B25F631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428750"/>
            <a:ext cx="5286375" cy="419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Stack: Python 3.12, EnergyPlus 26.1, LangGraph, FastMCP, Pydantic, Streamlit and Qwen3 4B.</a:t>
            </a:r>
          </a:p>
          <a:p xmlns:a="http://schemas.openxmlformats.org/drawingml/2006/main">
            <a:pPr marL="342900" indent="-342900">
              <a:buFont typeface="Arial"/>
              <a:buChar char="•"/>
            </a:pPr>
            <a:r>
              <a:rPr sz="2800">
                <a:latin typeface="Arial"/>
                <a:ea typeface="Arial"/>
                <a:cs typeface="Arial"/>
              </a:rPr>
              <a:t>Loop: observe → agents → safety → server reauthorization → actuation → measured reflection.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0ABDFC7-311D-4216-9F73-04B22E7643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rPr b="1">
                <a:solidFill>
                  <a:schemeClr val="bg1"/>
                </a:solidFill>
              </a:rPr>
              <a:t>3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75FBB332-4F32-4363-B847-3A9F7EA4A18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>
                <a:solidFill>
                  <a:schemeClr val="bg1"/>
                </a:solidFill>
              </a:rPr>
              <a:t>@SIH Idea submission- Template</a:t>
            </a:r>
          </a:p>
        </p:txBody>
      </p:sp>
      <p:pic>
        <p:nvPicPr>
          <p:cNvPr id="174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3723d23390438f"/>
          <a:stretch xmlns:a="http://schemas.openxmlformats.org/drawingml/2006/main"/>
        </p:blipFill>
        <p:spPr>
          <a:xfrm xmlns:a="http://schemas.openxmlformats.org/drawingml/2006/main">
            <a:off x="5857875" y="1970484"/>
            <a:ext cx="5715000" cy="339328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41704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D0327A66-6921-4D16-BD72-F3F2F6AD365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975" y="0"/>
            <a:ext cx="10972800" cy="1143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FEASIBILITY AND VIABILITY</a:t>
            </a:r>
          </a:p>
        </p:txBody>
      </p:sp>
      <p:sp>
        <p:nvSpPr>
          <p:cNvPr id="17410" name="TextBox 8">
            <a:extLst xmlns:a="http://schemas.openxmlformats.org/drawingml/2006/main">
              <a:ext uri="{FF2B5EF4-FFF2-40B4-BE49-F238E27FC236}">
                <a16:creationId xmlns:a16="http://schemas.microsoft.com/office/drawing/2014/main" id="{A261F6FB-3016-4A93-A5E8-4D3E3FADE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381125"/>
            <a:ext cx="5381625" cy="4785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Proven locally: 672 timesteps, 168/168 actions, 6.05 s and zero severe errors.</a:t>
            </a:r>
          </a:p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Risks: unsafe output, stale actions, timeout, comfort conflict and irreproducible runs.</a:t>
            </a:r>
          </a:p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 b="0" i="0" u="none" cap="none">
                <a:ln>
                  <a:noFill/>
                </a:ln>
                <a:solidFill>
                  <a:prstClr val="black"/>
                </a:solidFill>
                <a:latin typeface="Arial"/>
                <a:ea typeface="Arial"/>
                <a:cs typeface="Arial"/>
              </a:rPr>
              <a:t>Mitigation: PMV guard, 22–28°C bounds, 1°C limit, double authorization and immutable runs.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DAA899E-4B74-4297-A234-2572D286AA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FD6AB9A-5F9E-5F59-51AB-3C8734130965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4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70D72FE2-A1E6-4B6A-849B-3D4F3E69851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submission- Template</a:t>
            </a:r>
          </a:p>
        </p:txBody>
      </p:sp>
      <p:pic>
        <p:nvPicPr>
          <p:cNvPr id="174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08a78ea134443b"/>
          <a:stretch xmlns:a="http://schemas.openxmlformats.org/drawingml/2006/main"/>
        </p:blipFill>
        <p:spPr>
          <a:xfrm xmlns:a="http://schemas.openxmlformats.org/drawingml/2006/main">
            <a:off x="5953125" y="2651448"/>
            <a:ext cx="5619750" cy="174560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3879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5E03BF1A-7989-5C44-934B-D93E149184A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975" y="0"/>
            <a:ext cx="10972800" cy="1143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ARTIFACTS</a:t>
            </a:r>
          </a:p>
        </p:txBody>
      </p:sp>
      <p:sp>
        <p:nvSpPr>
          <p:cNvPr id="17410" name="TextBox 8">
            <a:extLst xmlns:a="http://schemas.openxmlformats.org/drawingml/2006/main">
              <a:ext uri="{FF2B5EF4-FFF2-40B4-BE49-F238E27FC236}">
                <a16:creationId xmlns:a16="http://schemas.microsoft.com/office/drawing/2014/main" id="{DD0C6F84-D6ED-416D-7179-055149D83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1095375"/>
            <a:ext cx="11049000" cy="207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Working proof:</a:t>
            </a:r>
          </a:p>
          <a:p xmlns:a="http://schemas.openxmlformats.org/drawingml/2006/main">
            <a:pPr marL="800100" lvl="1" indent="-342900"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Source, IDFs, lockfile and 377 tests</a:t>
            </a:r>
          </a:p>
          <a:p xmlns:a="http://schemas.openxmlformats.org/drawingml/2006/main">
            <a:pPr marL="800100" lvl="1" indent="-342900">
              <a:buFont typeface="Arial"/>
              <a:buChar char="•"/>
            </a:pPr>
            <a:r>
              <a:rPr sz="2800" b="0" i="0" u="none" cap="none">
                <a:ln>
                  <a:noFill/>
                </a:ln>
                <a:solidFill>
                  <a:prstClr val="black"/>
                </a:solidFill>
                <a:latin typeface="Arial"/>
                <a:ea typeface="Arial"/>
                <a:cs typeface="Arial"/>
              </a:rPr>
              <a:t>Real EnergyPlus, PMV and agent evidence</a:t>
            </a:r>
          </a:p>
          <a:p xmlns:a="http://schemas.openxmlformats.org/drawingml/2006/main">
            <a:pPr marL="800100" lvl="1" indent="-342900"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Isolated Live Scenario Lab</a:t>
            </a:r>
          </a:p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4B14AAA-63FC-5F17-FE74-5405495A1CD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EE5B3003-2C54-13C6-9832-7637201064DE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5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4C6332B-BBD9-799D-50C5-6A19BC85E43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submission- Template</a:t>
            </a:r>
          </a:p>
        </p:txBody>
      </p:sp>
      <p:pic>
        <p:nvPicPr>
          <p:cNvPr id="174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5ddad3320044c62"/>
          <a:stretch xmlns:a="http://schemas.openxmlformats.org/drawingml/2006/main"/>
        </p:blipFill>
        <p:spPr>
          <a:xfrm xmlns:a="http://schemas.openxmlformats.org/drawingml/2006/main">
            <a:off x="333375" y="2989130"/>
            <a:ext cx="3667125" cy="2546615"/>
          </a:xfrm>
          <a:prstGeom xmlns:a="http://schemas.openxmlformats.org/drawingml/2006/main" prst="rect">
            <a:avLst/>
          </a:prstGeom>
        </p:spPr>
      </p:pic>
      <p:pic>
        <p:nvPicPr>
          <p:cNvPr id="174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b89fd670724c71"/>
          <a:stretch xmlns:a="http://schemas.openxmlformats.org/drawingml/2006/main"/>
        </p:blipFill>
        <p:spPr>
          <a:xfrm xmlns:a="http://schemas.openxmlformats.org/drawingml/2006/main">
            <a:off x="4257675" y="3627992"/>
            <a:ext cx="3667125" cy="1268890"/>
          </a:xfrm>
          <a:prstGeom xmlns:a="http://schemas.openxmlformats.org/drawingml/2006/main" prst="rect">
            <a:avLst/>
          </a:prstGeom>
        </p:spPr>
      </p:pic>
      <p:pic>
        <p:nvPicPr>
          <p:cNvPr id="174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8dc210a7c4893"/>
          <a:stretch xmlns:a="http://schemas.openxmlformats.org/drawingml/2006/main"/>
        </p:blipFill>
        <p:spPr>
          <a:xfrm xmlns:a="http://schemas.openxmlformats.org/drawingml/2006/main">
            <a:off x="8181975" y="2989130"/>
            <a:ext cx="3667125" cy="2546615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344788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409" name="Title 1">
            <a:extLst xmlns:a="http://schemas.openxmlformats.org/drawingml/2006/main">
              <a:ext uri="{FF2B5EF4-FFF2-40B4-BE49-F238E27FC236}">
                <a16:creationId xmlns:a16="http://schemas.microsoft.com/office/drawing/2014/main" id="{8FCB6F79-5868-4E8B-99E2-4A207AD549E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82975" y="0"/>
            <a:ext cx="10972800" cy="11430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rPr sz="3600" b="1">
                <a:latin typeface="Times New Roman"/>
                <a:ea typeface="Times New Roman"/>
                <a:cs typeface="Times New Roman"/>
              </a:rPr>
              <a:t>RESEARCH AND REFERENCES</a:t>
            </a:r>
          </a:p>
        </p:txBody>
      </p:sp>
      <p:sp>
        <p:nvSpPr>
          <p:cNvPr id="17410" name="TextBox 8">
            <a:extLst xmlns:a="http://schemas.openxmlformats.org/drawingml/2006/main">
              <a:ext uri="{FF2B5EF4-FFF2-40B4-BE49-F238E27FC236}">
                <a16:creationId xmlns:a16="http://schemas.microsoft.com/office/drawing/2014/main" id="{8A74CD61-7122-4107-89DA-CFC1941CA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333500"/>
            <a:ext cx="10953750" cy="5212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marL="342900" marR="0" lvl="0" indent="-342900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/>
              <a:buChar char="•"/>
            </a:pPr>
            <a:r>
              <a:rPr sz="2800">
                <a:solidFill>
                  <a:prstClr val="black"/>
                </a:solidFill>
                <a:latin typeface="Arial"/>
                <a:ea typeface="Arial"/>
                <a:cs typeface="Arial"/>
              </a:rPr>
              <a:t>EnergyPlus Python API — energyplus.readthedocs.io/en/latest/api.html
Fanger PMV — bigladdersoftware.com/epx/docs/25-1/input-output-reference/
LangGraph — github.com/langchain-ai/langgraph
Model Context Protocol Python SDK — github.com/modelcontextprotocol/python-sdk
Ollama structured chat — docs.ollama.com/api/chat
Project evidence — controlled-run001-optimized-v3; 377 tests; 90.47% branch coverage
Honest boundary — accepted metrics use the deterministic optimizer; Qwen3 4B is advisory and cannot bypass safety.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30B5231-7921-4554-ACF6-111E2DFED81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r" defTabSz="4572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</a:pPr>
            <a:fld id="{8C630A04-5A25-9E0C-9436-126091DB86B3}" type="slidenum">
              <a:rPr sz="1200" b="1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6</a:t>
            </a:fld>
          </a:p>
        </p:txBody>
      </p:sp>
      <p:sp>
        <p:nvSpPr>
          <p:cNvPr id="7" name="Footer Placeholder 6">
            <a:extLst xmlns:a="http://schemas.openxmlformats.org/drawingml/2006/main">
              <a:ext uri="{FF2B5EF4-FFF2-40B4-BE49-F238E27FC236}">
                <a16:creationId xmlns:a16="http://schemas.microsoft.com/office/drawing/2014/main" id="{383A1919-7605-473F-9485-99F4F94542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648200" y="6356353"/>
            <a:ext cx="32040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marR="0" lvl="0" indent="0" algn="ctr" defTabSz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r>
              <a:rPr sz="1200" b="0" i="0" u="none" cap="none">
                <a:ln>
                  <a:noFill/>
                </a:ln>
                <a:solidFill>
                  <a:prstClr val="white"/>
                </a:solidFill>
                <a:latin typeface="TradeGothic"/>
                <a:ea typeface="TradeGothic"/>
                <a:cs typeface="TradeGothic"/>
              </a:rPr>
              <a:t>@SIH Idea submission- Template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2026-07-26T13:56:24.4470000Z</dcterms:created>
  <dcterms:modified xsi:type="dcterms:W3CDTF">2026-07-26T13:56:24.4470000Z</dcterms:modified>
</coreProperties>
</file>